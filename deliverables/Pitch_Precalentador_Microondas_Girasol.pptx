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37276" y="777240"/>
            <a:ext cx="914400" cy="914400"/>
          </a:xfrm>
          <a:prstGeom prst="ellipse">
            <a:avLst/>
          </a:prstGeom>
          <a:solidFill>
            <a:srgbClr val="2A3644"/>
          </a:solidFill>
          <a:ln/>
        </p:spPr>
      </p:sp>
      <p:pic>
        <p:nvPicPr>
          <p:cNvPr id="3" name="Image 0" descr="ic_seed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0156" y="960120"/>
            <a:ext cx="548640" cy="548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2148840"/>
            <a:ext cx="103601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PRECALENTAMIENTO DE SEMILLA POR MICROONDAS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1463040" y="3337560"/>
            <a:ext cx="9262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FE4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mejora de proceso para la etapa crítica de extrusión — precalentar la semilla con energía dieléctrica en vez de vapor o aire caliente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271516" y="4343400"/>
            <a:ext cx="1645920" cy="0"/>
          </a:xfrm>
          <a:prstGeom prst="line">
            <a:avLst/>
          </a:prstGeom>
          <a:noFill/>
          <a:ln w="25400">
            <a:solidFill>
              <a:srgbClr val="D89B2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598932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7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Revamping y Automatización — Planta de Aceite de Girasol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630936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Jorge Churio  |  Proyecto Valeriano Sunflower  |  Septiembre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B2430"/>
          </a:solidFill>
          <a:ln/>
        </p:spPr>
      </p:sp>
      <p:pic>
        <p:nvPicPr>
          <p:cNvPr id="3" name="Image 0" descr="ic_fi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364" y="627644"/>
            <a:ext cx="317480" cy="317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9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hallazgo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749808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extrusor es el cuello de botella crítico del proceso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1124712" y="178308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F0F2F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124712" y="178308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907792" y="2112264"/>
            <a:ext cx="256032" cy="256032"/>
          </a:xfrm>
          <a:prstGeom prst="rightArrow">
            <a:avLst/>
          </a:prstGeom>
          <a:solidFill>
            <a:srgbClr val="E7EAEE"/>
          </a:solidFill>
          <a:ln/>
        </p:spPr>
      </p:sp>
      <p:sp>
        <p:nvSpPr>
          <p:cNvPr id="9" name="Shape 6"/>
          <p:cNvSpPr/>
          <p:nvPr/>
        </p:nvSpPr>
        <p:spPr>
          <a:xfrm>
            <a:off x="3163824" y="178308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F0F2F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163824" y="178308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Molino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946904" y="2112264"/>
            <a:ext cx="256032" cy="256032"/>
          </a:xfrm>
          <a:prstGeom prst="rightArrow">
            <a:avLst/>
          </a:prstGeom>
          <a:solidFill>
            <a:srgbClr val="E7EAEE"/>
          </a:solidFill>
          <a:ln/>
        </p:spPr>
      </p:sp>
      <p:sp>
        <p:nvSpPr>
          <p:cNvPr id="12" name="Shape 9"/>
          <p:cNvSpPr/>
          <p:nvPr/>
        </p:nvSpPr>
        <p:spPr>
          <a:xfrm>
            <a:off x="5202936" y="178308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D89B2C"/>
          </a:solidFill>
          <a:ln w="19050">
            <a:solidFill>
              <a:srgbClr val="1B243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202936" y="178308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Extrusor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986016" y="2112264"/>
            <a:ext cx="256032" cy="256032"/>
          </a:xfrm>
          <a:prstGeom prst="rightArrow">
            <a:avLst/>
          </a:prstGeom>
          <a:solidFill>
            <a:srgbClr val="E7EAEE"/>
          </a:solidFill>
          <a:ln/>
        </p:spPr>
      </p:sp>
      <p:sp>
        <p:nvSpPr>
          <p:cNvPr id="15" name="Shape 12"/>
          <p:cNvSpPr/>
          <p:nvPr/>
        </p:nvSpPr>
        <p:spPr>
          <a:xfrm>
            <a:off x="7242048" y="178308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F0F2F5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242048" y="178308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Prensas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9025128" y="2112264"/>
            <a:ext cx="256032" cy="256032"/>
          </a:xfrm>
          <a:prstGeom prst="rightArrow">
            <a:avLst/>
          </a:prstGeom>
          <a:solidFill>
            <a:srgbClr val="E7EAEE"/>
          </a:solidFill>
          <a:ln/>
        </p:spPr>
      </p:sp>
      <p:sp>
        <p:nvSpPr>
          <p:cNvPr id="18" name="Shape 15"/>
          <p:cNvSpPr/>
          <p:nvPr/>
        </p:nvSpPr>
        <p:spPr>
          <a:xfrm>
            <a:off x="9281160" y="178308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F0F2F5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9281160" y="178308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Expeller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0" y="292608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de máxima prioridad relevada en el assessment de planta (Visita 1)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3703320"/>
            <a:ext cx="3544824" cy="2331720"/>
          </a:xfrm>
          <a:prstGeom prst="roundRect">
            <a:avLst>
              <a:gd name="adj" fmla="val 3137"/>
            </a:avLst>
          </a:prstGeom>
          <a:solidFill>
            <a:srgbClr val="F0F2F5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777240" y="3931920"/>
            <a:ext cx="3087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 de salida define calidad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777240" y="4572000"/>
            <a:ext cx="30876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extrusor genera calor por fricción; si se excede, degrada el producto (riesgo de quemado).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4322064" y="3703320"/>
            <a:ext cx="3544824" cy="2331720"/>
          </a:xfrm>
          <a:prstGeom prst="roundRect">
            <a:avLst>
              <a:gd name="adj" fmla="val 3137"/>
            </a:avLst>
          </a:prstGeom>
          <a:solidFill>
            <a:srgbClr val="F0F2F5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4550664" y="3931920"/>
            <a:ext cx="3087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realimentación con el molino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4550664" y="4572000"/>
            <a:ext cx="30876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opera de forma aislada, sin lazo cerrado — alta variabilidad de proceso.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8095488" y="3703320"/>
            <a:ext cx="3544824" cy="2331720"/>
          </a:xfrm>
          <a:prstGeom prst="roundRect">
            <a:avLst>
              <a:gd name="adj" fmla="val 3137"/>
            </a:avLst>
          </a:prstGeom>
          <a:solidFill>
            <a:srgbClr val="F0F2F5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8324088" y="3931920"/>
            <a:ext cx="3087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 Alta (crítica)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8324088" y="4572000"/>
            <a:ext cx="30876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Junto con el molino, es el punto donde más impacta instrumentar y cerrar el lazo de control.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D89B2C"/>
          </a:solidFill>
          <a:ln/>
        </p:spPr>
      </p:sp>
      <p:pic>
        <p:nvPicPr>
          <p:cNvPr id="3" name="Image 0" descr="ic_light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364" y="627644"/>
            <a:ext cx="317480" cy="317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9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mejora propuesta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749808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Precalentar la semilla antes de que entre al extrusor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1197864" y="182880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F0F2F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197864" y="182880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980944" y="2157984"/>
            <a:ext cx="219456" cy="256032"/>
          </a:xfrm>
          <a:prstGeom prst="rightArrow">
            <a:avLst/>
          </a:prstGeom>
          <a:solidFill>
            <a:srgbClr val="E7EAEE"/>
          </a:solidFill>
          <a:ln/>
        </p:spPr>
      </p:sp>
      <p:sp>
        <p:nvSpPr>
          <p:cNvPr id="9" name="Shape 6"/>
          <p:cNvSpPr/>
          <p:nvPr/>
        </p:nvSpPr>
        <p:spPr>
          <a:xfrm>
            <a:off x="3200400" y="182880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F0F2F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200400" y="182880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Molino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983480" y="2157984"/>
            <a:ext cx="219456" cy="256032"/>
          </a:xfrm>
          <a:prstGeom prst="rightArrow">
            <a:avLst/>
          </a:prstGeom>
          <a:solidFill>
            <a:srgbClr val="E7EAEE"/>
          </a:solidFill>
          <a:ln/>
        </p:spPr>
      </p:sp>
      <p:sp>
        <p:nvSpPr>
          <p:cNvPr id="12" name="Shape 9"/>
          <p:cNvSpPr/>
          <p:nvPr/>
        </p:nvSpPr>
        <p:spPr>
          <a:xfrm>
            <a:off x="5202936" y="182880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00C2A8"/>
          </a:solidFill>
          <a:ln w="19050">
            <a:solidFill>
              <a:srgbClr val="1B2430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5202936" y="182880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Precalentador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020056" y="151790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 ETAPA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986016" y="2157984"/>
            <a:ext cx="219456" cy="256032"/>
          </a:xfrm>
          <a:prstGeom prst="rightArrow">
            <a:avLst/>
          </a:prstGeom>
          <a:solidFill>
            <a:srgbClr val="E7EAEE"/>
          </a:solidFill>
          <a:ln/>
        </p:spPr>
      </p:sp>
      <p:sp>
        <p:nvSpPr>
          <p:cNvPr id="16" name="Shape 13"/>
          <p:cNvSpPr/>
          <p:nvPr/>
        </p:nvSpPr>
        <p:spPr>
          <a:xfrm>
            <a:off x="7205472" y="182880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F0F2F5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205472" y="182880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Extrusor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988552" y="2157984"/>
            <a:ext cx="219456" cy="256032"/>
          </a:xfrm>
          <a:prstGeom prst="rightArrow">
            <a:avLst/>
          </a:prstGeom>
          <a:solidFill>
            <a:srgbClr val="E7EAEE"/>
          </a:solidFill>
          <a:ln/>
        </p:spPr>
      </p:sp>
      <p:sp>
        <p:nvSpPr>
          <p:cNvPr id="19" name="Shape 16"/>
          <p:cNvSpPr/>
          <p:nvPr/>
        </p:nvSpPr>
        <p:spPr>
          <a:xfrm>
            <a:off x="9208008" y="182880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F0F2F5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208008" y="182880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Prensas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48640" y="342900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0F2F5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68680" y="3611880"/>
            <a:ext cx="10451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central: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semilla entra tibia al extrusor, éste necesita generar menos salto térmico por fricción para llegar a su temperatura de trabajo. Eso reduce la variabilidad y el riesgo de sobrecalentar el producto — el mismo riesgo que identificamos como crítico en la etapa 3 — y de paso mejora el rendimiento de extracción de aceite.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51663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 —no reemplaza— el lazo PID propuesto para molino y extrusor: una alimentación térmicamente estable facilita afinar ese control.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B2430"/>
          </a:solidFill>
          <a:ln/>
        </p:spPr>
      </p:sp>
      <p:pic>
        <p:nvPicPr>
          <p:cNvPr id="3" name="Image 0" descr="ic_industry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364" y="627644"/>
            <a:ext cx="317480" cy="317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9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del arte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749808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calientan los sistemas comerciales actuales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1091672" cy="1481328"/>
          </a:xfrm>
          <a:prstGeom prst="roundRect">
            <a:avLst>
              <a:gd name="adj" fmla="val 4938"/>
            </a:avLst>
          </a:prstGeom>
          <a:solidFill>
            <a:srgbClr val="F0F2F5"/>
          </a:solidFill>
          <a:ln/>
        </p:spPr>
      </p:sp>
      <p:sp>
        <p:nvSpPr>
          <p:cNvPr id="7" name="Shape 4"/>
          <p:cNvSpPr/>
          <p:nvPr/>
        </p:nvSpPr>
        <p:spPr>
          <a:xfrm>
            <a:off x="822960" y="214884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1" descr="ic_wi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" y="2290572"/>
            <a:ext cx="283464" cy="28346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8562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Vapor indirecto (conducción)</a:t>
            </a:r>
            <a:endParaRPr lang="en-US" sz="1450" dirty="0"/>
          </a:p>
        </p:txBody>
      </p:sp>
      <p:sp>
        <p:nvSpPr>
          <p:cNvPr id="10" name="Text 6"/>
          <p:cNvSpPr txBox="1"/>
          <p:nvPr/>
        </p:nvSpPr>
        <p:spPr>
          <a:xfrm>
            <a:off x="1600200" y="2221992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Cocinadores apilados con camisa de vapor. El calor atraviesa la pared metálica y penetra la masa capa por capa.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949440" y="1874520"/>
            <a:ext cx="0" cy="1115568"/>
          </a:xfrm>
          <a:prstGeom prst="line">
            <a:avLst/>
          </a:prstGeom>
          <a:noFill/>
          <a:ln w="15875">
            <a:solidFill>
              <a:srgbClr val="E7EAEE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178040" y="1874520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9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Fabricantes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7178040" y="2167128"/>
            <a:ext cx="44622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Kumar Metal Industries  ·  French Oil Mill Machinery  ·  CPM / Crown Iron Works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310128"/>
            <a:ext cx="11091672" cy="1481328"/>
          </a:xfrm>
          <a:prstGeom prst="roundRect">
            <a:avLst>
              <a:gd name="adj" fmla="val 4938"/>
            </a:avLst>
          </a:prstGeom>
          <a:solidFill>
            <a:srgbClr val="F0F2F5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376732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ic_lay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" y="3909060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00200" y="3474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Aire caliente / lecho fluidizado (convección)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1600200" y="38404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Aire a alta velocidad fluidiza la semilla, exponiendo cada partícula individualmente al calor.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949440" y="3493008"/>
            <a:ext cx="0" cy="1115568"/>
          </a:xfrm>
          <a:prstGeom prst="line">
            <a:avLst/>
          </a:prstGeom>
          <a:noFill/>
          <a:ln w="15875">
            <a:solidFill>
              <a:srgbClr val="E7EAEE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7178040" y="3493008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9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Fabricantes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7178040" y="3785616"/>
            <a:ext cx="44622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 Manufacturing (CalorMatic)  ·  Anderson International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48640" y="4928616"/>
            <a:ext cx="11091672" cy="1481328"/>
          </a:xfrm>
          <a:prstGeom prst="roundRect">
            <a:avLst>
              <a:gd name="adj" fmla="val 4938"/>
            </a:avLst>
          </a:prstGeom>
          <a:solidFill>
            <a:srgbClr val="F0F2F5"/>
          </a:solidFill>
          <a:ln/>
        </p:spPr>
      </p:sp>
      <p:sp>
        <p:nvSpPr>
          <p:cNvPr id="23" name="Shape 18"/>
          <p:cNvSpPr/>
          <p:nvPr/>
        </p:nvSpPr>
        <p:spPr>
          <a:xfrm>
            <a:off x="822960" y="5385816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3" descr="ic_co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" y="5527548"/>
            <a:ext cx="283464" cy="28346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600200" y="509320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Placas calientes / lecho móvil (contacto)</a:t>
            </a:r>
            <a:endParaRPr lang="en-US" sz="1450" dirty="0"/>
          </a:p>
        </p:txBody>
      </p:sp>
      <p:sp>
        <p:nvSpPr>
          <p:cNvPr id="26" name="Text 20"/>
          <p:cNvSpPr txBox="1"/>
          <p:nvPr/>
        </p:nvSpPr>
        <p:spPr>
          <a:xfrm>
            <a:off x="1600200" y="5458968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semilla se desliza en capa delgada sobre placas calefaccionadas, con recuperación de calor residual.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6949440" y="5111496"/>
            <a:ext cx="0" cy="1115568"/>
          </a:xfrm>
          <a:prstGeom prst="line">
            <a:avLst/>
          </a:prstGeom>
          <a:noFill/>
          <a:ln w="15875">
            <a:solidFill>
              <a:srgbClr val="E7EAEE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7178040" y="5111496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9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Fabricantes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7178040" y="5404104"/>
            <a:ext cx="44622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Solex Thermal Science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89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limitación común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Todos calientan de afuera hacia adentro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057400" y="2651760"/>
            <a:ext cx="2651760" cy="2651760"/>
          </a:xfrm>
          <a:prstGeom prst="ellipse">
            <a:avLst/>
          </a:prstGeom>
          <a:solidFill>
            <a:srgbClr val="D89B2C"/>
          </a:solidFill>
          <a:ln/>
        </p:spPr>
      </p:sp>
      <p:sp>
        <p:nvSpPr>
          <p:cNvPr id="5" name="Shape 3"/>
          <p:cNvSpPr/>
          <p:nvPr/>
        </p:nvSpPr>
        <p:spPr>
          <a:xfrm>
            <a:off x="2423160" y="3017520"/>
            <a:ext cx="1920240" cy="1920240"/>
          </a:xfrm>
          <a:prstGeom prst="ellipse">
            <a:avLst/>
          </a:prstGeom>
          <a:solidFill>
            <a:srgbClr val="B98333"/>
          </a:solidFill>
          <a:ln/>
        </p:spPr>
      </p:sp>
      <p:sp>
        <p:nvSpPr>
          <p:cNvPr id="6" name="Shape 4"/>
          <p:cNvSpPr/>
          <p:nvPr/>
        </p:nvSpPr>
        <p:spPr>
          <a:xfrm>
            <a:off x="2816352" y="3410712"/>
            <a:ext cx="1133856" cy="1133856"/>
          </a:xfrm>
          <a:prstGeom prst="ellipse">
            <a:avLst/>
          </a:prstGeom>
          <a:solidFill>
            <a:srgbClr val="2A364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880360" y="37033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7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7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frío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5532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Convencional: gradiente superficie → centro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543800" y="2651760"/>
            <a:ext cx="2651760" cy="265176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366760" y="37033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040880" y="5532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FE4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Microondas: calentamiento volumétrico (sección siguiente)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989320"/>
            <a:ext cx="9628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E7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Consecuencia práctica: procesos de 10-20 minutos, y riesgo de sobrecalentar la superficie mientras el centro de la semilla sigue frío.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3" name="Image 0" descr="ic_atom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364" y="627644"/>
            <a:ext cx="317480" cy="317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9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propuesta técnica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749808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Calentamiento volumétrico por microondas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F0F2F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1856232"/>
            <a:ext cx="10451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 físico: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campo electromagnético oscilante hace rotar las moléculas de agua y mueve iones dentro de la semilla, generando calor directamente en su volumen — no por conducción o convección desde una superficie externa.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200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idea de diseño: sinfín con calentamiento por microondas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3749040"/>
            <a:ext cx="530352" cy="530352"/>
          </a:xfrm>
          <a:prstGeom prst="ellipse">
            <a:avLst/>
          </a:prstGeom>
          <a:solidFill>
            <a:srgbClr val="1B2430"/>
          </a:solidFill>
          <a:ln/>
        </p:spPr>
      </p:sp>
      <p:pic>
        <p:nvPicPr>
          <p:cNvPr id="10" name="Image 1" descr="ic_gauge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24" y="3876324"/>
            <a:ext cx="275783" cy="27578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" y="4434840"/>
            <a:ext cx="3544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 + calentamiento en un solo equipo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4937760"/>
            <a:ext cx="35448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propio sinfín mueve y mezcla la semilla mientras la energía electromagnética la calienta en tránsito — sin etapa de cocción separada.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4322064" y="3749040"/>
            <a:ext cx="530352" cy="530352"/>
          </a:xfrm>
          <a:prstGeom prst="ellipse">
            <a:avLst/>
          </a:prstGeom>
          <a:solidFill>
            <a:srgbClr val="1B2430"/>
          </a:solidFill>
          <a:ln/>
        </p:spPr>
      </p:sp>
      <p:pic>
        <p:nvPicPr>
          <p:cNvPr id="14" name="Image 2" descr="ic_bolt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9348" y="3876324"/>
            <a:ext cx="275783" cy="275783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322064" y="4434840"/>
            <a:ext cx="3544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Energía dirigida al producto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4322064" y="4937760"/>
            <a:ext cx="35448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campo se acopla con el agua/las moléculas polares de la semilla, en vez de calentar primero una pared o el aire del ambiente.</a:t>
            </a:r>
            <a:endParaRPr lang="en-US" sz="1080" dirty="0"/>
          </a:p>
        </p:txBody>
      </p:sp>
      <p:sp>
        <p:nvSpPr>
          <p:cNvPr id="17" name="Shape 12"/>
          <p:cNvSpPr/>
          <p:nvPr/>
        </p:nvSpPr>
        <p:spPr>
          <a:xfrm>
            <a:off x="8095488" y="3749040"/>
            <a:ext cx="530352" cy="530352"/>
          </a:xfrm>
          <a:prstGeom prst="ellipse">
            <a:avLst/>
          </a:prstGeom>
          <a:solidFill>
            <a:srgbClr val="1B2430"/>
          </a:solidFill>
          <a:ln/>
        </p:spPr>
      </p:sp>
      <p:pic>
        <p:nvPicPr>
          <p:cNvPr id="18" name="Image 3" descr="ic_clock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2772" y="3876324"/>
            <a:ext cx="275783" cy="275783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095488" y="4434840"/>
            <a:ext cx="3544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Calentamiento simultáneo, no secuencial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8095488" y="4937760"/>
            <a:ext cx="35448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actuar en todo el volumen a la vez, el tiempo de proceso deja de depender de qué tan rápido conduce el calor la propia semilla.</a:t>
            </a:r>
            <a:endParaRPr lang="en-US" sz="10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D89B2C"/>
          </a:solidFill>
          <a:ln/>
        </p:spPr>
      </p:sp>
      <p:pic>
        <p:nvPicPr>
          <p:cNvPr id="3" name="Image 0" descr="ic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364" y="627644"/>
            <a:ext cx="317480" cy="317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9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749808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Ventajas frente a los sistemas convencionales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2926080" cy="502920"/>
          </a:xfrm>
          <a:prstGeom prst="rect">
            <a:avLst/>
          </a:prstGeom>
          <a:solidFill>
            <a:srgbClr val="1B243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85800" y="17373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474720" y="1737360"/>
            <a:ext cx="3657600" cy="502920"/>
          </a:xfrm>
          <a:prstGeom prst="rect">
            <a:avLst/>
          </a:prstGeom>
          <a:solidFill>
            <a:srgbClr val="1B243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611880" y="17373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Vapor / aire / placas (hoy)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132320" y="1737360"/>
            <a:ext cx="4142232" cy="502920"/>
          </a:xfrm>
          <a:prstGeom prst="rect">
            <a:avLst/>
          </a:prstGeom>
          <a:solidFill>
            <a:srgbClr val="1B243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269480" y="1737360"/>
            <a:ext cx="3867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Precalentador por microondas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2240280"/>
            <a:ext cx="29260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7EAE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22402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474720" y="2240280"/>
            <a:ext cx="36576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7EAE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611880" y="224028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 min por lote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132320" y="2240280"/>
            <a:ext cx="4142232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7EAE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269480" y="2240280"/>
            <a:ext cx="3867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Minutos: 4 min demostrado en piloto continuo (canola)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3017520"/>
            <a:ext cx="2926080" cy="777240"/>
          </a:xfrm>
          <a:prstGeom prst="rect">
            <a:avLst/>
          </a:prstGeom>
          <a:solidFill>
            <a:srgbClr val="F0F2F5"/>
          </a:solidFill>
          <a:ln w="9525">
            <a:solidFill>
              <a:srgbClr val="E7EAE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" y="301752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Uniformidad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474720" y="3017520"/>
            <a:ext cx="3657600" cy="777240"/>
          </a:xfrm>
          <a:prstGeom prst="rect">
            <a:avLst/>
          </a:prstGeom>
          <a:solidFill>
            <a:srgbClr val="F0F2F5"/>
          </a:solidFill>
          <a:ln w="9525">
            <a:solidFill>
              <a:srgbClr val="E7EAE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611880" y="301752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Gradiente superficie → centro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132320" y="3017520"/>
            <a:ext cx="4142232" cy="777240"/>
          </a:xfrm>
          <a:prstGeom prst="rect">
            <a:avLst/>
          </a:prstGeom>
          <a:solidFill>
            <a:srgbClr val="F0F2F5"/>
          </a:solidFill>
          <a:ln w="9525">
            <a:solidFill>
              <a:srgbClr val="E7EAE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269480" y="3017520"/>
            <a:ext cx="3867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Volumétrico; mejora con mezclado en el propio sinfín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48640" y="3794760"/>
            <a:ext cx="29260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7EAE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85800" y="37947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 energética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474720" y="3794760"/>
            <a:ext cx="36576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7EAE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611880" y="379476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Pérdidas por transmisión indirecta (pared, aire)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7132320" y="3794760"/>
            <a:ext cx="4142232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7EAE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269480" y="3794760"/>
            <a:ext cx="3867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Energía acoplada directamente al producto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48640" y="4572000"/>
            <a:ext cx="2926080" cy="777240"/>
          </a:xfrm>
          <a:prstGeom prst="rect">
            <a:avLst/>
          </a:prstGeom>
          <a:solidFill>
            <a:srgbClr val="F0F2F5"/>
          </a:solidFill>
          <a:ln w="9525">
            <a:solidFill>
              <a:srgbClr val="E7EAEE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85800" y="45720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/ integración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474720" y="4572000"/>
            <a:ext cx="3657600" cy="777240"/>
          </a:xfrm>
          <a:prstGeom prst="rect">
            <a:avLst/>
          </a:prstGeom>
          <a:solidFill>
            <a:srgbClr val="F0F2F5"/>
          </a:solidFill>
          <a:ln w="9525">
            <a:solidFill>
              <a:srgbClr val="E7EAE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3611880" y="45720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inercia térmica, ajuste lento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7132320" y="4572000"/>
            <a:ext cx="4142232" cy="777240"/>
          </a:xfrm>
          <a:prstGeom prst="rect">
            <a:avLst/>
          </a:prstGeom>
          <a:solidFill>
            <a:srgbClr val="F0F2F5"/>
          </a:solidFill>
          <a:ln w="9525">
            <a:solidFill>
              <a:srgbClr val="E7EAEE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269480" y="4572000"/>
            <a:ext cx="3867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 ajustable en tiempo real — apto para lazo PID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B2430"/>
          </a:solidFill>
          <a:ln/>
        </p:spPr>
      </p:sp>
      <p:pic>
        <p:nvPicPr>
          <p:cNvPr id="3" name="Image 0" descr="ic_book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364" y="627644"/>
            <a:ext cx="317480" cy="317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9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Sustento académico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749808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es una idea sin precedentes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2020824"/>
            <a:ext cx="512064" cy="512064"/>
          </a:xfrm>
          <a:prstGeom prst="ellipse">
            <a:avLst/>
          </a:prstGeom>
          <a:solidFill>
            <a:srgbClr val="F0F2F5"/>
          </a:solidFill>
          <a:ln/>
        </p:spPr>
      </p:sp>
      <p:pic>
        <p:nvPicPr>
          <p:cNvPr id="7" name="Image 1" descr="ic_gau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2148840"/>
            <a:ext cx="256032" cy="25603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1691640"/>
            <a:ext cx="10314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Zhou &amp; Wang (2019) — Int. J. of Agricultural and Biological Engineering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1325880" y="2020824"/>
            <a:ext cx="10314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Diseñaron un sinfín dentro de un sistema de radiofrecuencia (RF) para mover y mezclar soja, maíz y maní durante el calentamiento: mejoró la uniformidad térmica frente al tratamiento estático. Precedente directo de diseño.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2907792"/>
            <a:ext cx="11091672" cy="0"/>
          </a:xfrm>
          <a:prstGeom prst="line">
            <a:avLst/>
          </a:prstGeom>
          <a:noFill/>
          <a:ln w="9525">
            <a:solidFill>
              <a:srgbClr val="E7EAE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48640" y="3282696"/>
            <a:ext cx="512064" cy="512064"/>
          </a:xfrm>
          <a:prstGeom prst="ellipse">
            <a:avLst/>
          </a:prstGeom>
          <a:solidFill>
            <a:srgbClr val="F0F2F5"/>
          </a:solidFill>
          <a:ln/>
        </p:spPr>
      </p:sp>
      <p:pic>
        <p:nvPicPr>
          <p:cNvPr id="12" name="Image 2" descr="ic_flas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3410712"/>
            <a:ext cx="256032" cy="25603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953512"/>
            <a:ext cx="10314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Gaber et al. (2020) — Journal of Food Engineering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282696"/>
            <a:ext cx="10314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continuo de microondas tipo túnel para colza (canola): acondicionamiento + cocción con mejor rendimiento de aceite y menor tiempo de proceso que el vapor convencional.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4169664"/>
            <a:ext cx="11091672" cy="0"/>
          </a:xfrm>
          <a:prstGeom prst="line">
            <a:avLst/>
          </a:prstGeom>
          <a:noFill/>
          <a:ln w="9525">
            <a:solidFill>
              <a:srgbClr val="E7EAEE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48640" y="4544568"/>
            <a:ext cx="512064" cy="512064"/>
          </a:xfrm>
          <a:prstGeom prst="ellipse">
            <a:avLst/>
          </a:prstGeom>
          <a:solidFill>
            <a:srgbClr val="F0F2F5"/>
          </a:solidFill>
          <a:ln/>
        </p:spPr>
      </p:sp>
      <p:pic>
        <p:nvPicPr>
          <p:cNvPr id="17" name="Image 3" descr="ic_broadca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4672584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25880" y="4215384"/>
            <a:ext cx="10314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Terigar et al. (2011) — Journal of Food Engineering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1325880" y="4544568"/>
            <a:ext cx="10314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Escalaron de laboratorio a piloto industrial (915 MHz) en soja y afrecho de arroz, con recuperación de aceite superior al 93% en el sistema continuo.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48640" y="5431536"/>
            <a:ext cx="11091672" cy="0"/>
          </a:xfrm>
          <a:prstGeom prst="line">
            <a:avLst/>
          </a:prstGeom>
          <a:noFill/>
          <a:ln w="9525">
            <a:solidFill>
              <a:srgbClr val="E7EAEE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548640" y="5806440"/>
            <a:ext cx="512064" cy="512064"/>
          </a:xfrm>
          <a:prstGeom prst="ellipse">
            <a:avLst/>
          </a:prstGeom>
          <a:solidFill>
            <a:srgbClr val="F0F2F5"/>
          </a:solidFill>
          <a:ln/>
        </p:spPr>
      </p:sp>
      <p:pic>
        <p:nvPicPr>
          <p:cNvPr id="22" name="Image 4" descr="ic_wav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" y="5934456"/>
            <a:ext cx="256032" cy="25603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325880" y="5477256"/>
            <a:ext cx="10314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Koubaa et al. (2016) — Food Research International (revisión)</a:t>
            </a:r>
            <a:endParaRPr lang="en-US" sz="1300" dirty="0"/>
          </a:p>
        </p:txBody>
      </p:sp>
      <p:sp>
        <p:nvSpPr>
          <p:cNvPr id="24" name="Text 17"/>
          <p:cNvSpPr txBox="1"/>
          <p:nvPr/>
        </p:nvSpPr>
        <p:spPr>
          <a:xfrm>
            <a:off x="1325880" y="5806440"/>
            <a:ext cx="10314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que confirma el efecto del microondas específicamente en girasol, colza, sésamo y soja, con mejoras de rendimiento y estabilidad oxidativa.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D89B2C"/>
          </a:solidFill>
          <a:ln/>
        </p:spPr>
      </p:sp>
      <p:pic>
        <p:nvPicPr>
          <p:cNvPr id="3" name="Image 0" descr="ic_chart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364" y="627644"/>
            <a:ext cx="317480" cy="317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E4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cuantitativa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749808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¿Cuánto mejora el rendimiento? Datos publicados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874520"/>
            <a:ext cx="2035454" cy="3246120"/>
          </a:xfrm>
          <a:prstGeom prst="roundRect">
            <a:avLst>
              <a:gd name="adj" fmla="val 3594"/>
            </a:avLst>
          </a:prstGeom>
          <a:solidFill>
            <a:srgbClr val="2A364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58368" y="2194560"/>
            <a:ext cx="18159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89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93.46%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713232" y="3108960"/>
            <a:ext cx="170627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7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 de expresión de aceite en GIRASOL a 80°C vs. control a 25°C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4617720"/>
            <a:ext cx="1815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FE4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Gürdil et al. 2020, Processes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812694" y="1874520"/>
            <a:ext cx="2035454" cy="3246120"/>
          </a:xfrm>
          <a:prstGeom prst="roundRect">
            <a:avLst>
              <a:gd name="adj" fmla="val 3594"/>
            </a:avLst>
          </a:prstGeom>
          <a:solidFill>
            <a:srgbClr val="2A364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922422" y="2194560"/>
            <a:ext cx="18159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89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+4.3%</a:t>
            </a:r>
            <a:endParaRPr lang="en-US" sz="2700" dirty="0"/>
          </a:p>
        </p:txBody>
      </p:sp>
      <p:sp>
        <p:nvSpPr>
          <p:cNvPr id="12" name="Text 9"/>
          <p:cNvSpPr txBox="1"/>
          <p:nvPr/>
        </p:nvSpPr>
        <p:spPr>
          <a:xfrm>
            <a:off x="2977286" y="3108960"/>
            <a:ext cx="170627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7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de aceite en expeller de canola con precalentamiento por microondas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2922422" y="4617720"/>
            <a:ext cx="1815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FE4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Gaber et al. 2020, J. Food Eng.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076749" y="1874520"/>
            <a:ext cx="2035454" cy="3246120"/>
          </a:xfrm>
          <a:prstGeom prst="roundRect">
            <a:avLst>
              <a:gd name="adj" fmla="val 3594"/>
            </a:avLst>
          </a:prstGeom>
          <a:solidFill>
            <a:srgbClr val="2A3644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186477" y="2194560"/>
            <a:ext cx="18159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89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10→4 min</a:t>
            </a:r>
            <a:endParaRPr lang="en-US" sz="2100" dirty="0"/>
          </a:p>
        </p:txBody>
      </p:sp>
      <p:sp>
        <p:nvSpPr>
          <p:cNvPr id="16" name="Text 13"/>
          <p:cNvSpPr txBox="1"/>
          <p:nvPr/>
        </p:nvSpPr>
        <p:spPr>
          <a:xfrm>
            <a:off x="5241341" y="3108960"/>
            <a:ext cx="170627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7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cocción reducido con microondas, mismo resultado final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5186477" y="4617720"/>
            <a:ext cx="1815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FE4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Gaber et al. 2020, J. Food Eng.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7340803" y="1874520"/>
            <a:ext cx="2035454" cy="3246120"/>
          </a:xfrm>
          <a:prstGeom prst="roundRect">
            <a:avLst>
              <a:gd name="adj" fmla="val 3594"/>
            </a:avLst>
          </a:prstGeom>
          <a:solidFill>
            <a:srgbClr val="2A3644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450531" y="2194560"/>
            <a:ext cx="18159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89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&gt;93%</a:t>
            </a:r>
            <a:endParaRPr lang="en-US" sz="2700" dirty="0"/>
          </a:p>
        </p:txBody>
      </p:sp>
      <p:sp>
        <p:nvSpPr>
          <p:cNvPr id="20" name="Text 17"/>
          <p:cNvSpPr txBox="1"/>
          <p:nvPr/>
        </p:nvSpPr>
        <p:spPr>
          <a:xfrm>
            <a:off x="7505395" y="3108960"/>
            <a:ext cx="170627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7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 de aceite en sistema piloto continuo de microondas (soja / afrecho de arroz)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7450531" y="4617720"/>
            <a:ext cx="1815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FE4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Terigar et al. 2011, J. Food Eng.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9604858" y="1874520"/>
            <a:ext cx="2035454" cy="3246120"/>
          </a:xfrm>
          <a:prstGeom prst="roundRect">
            <a:avLst>
              <a:gd name="adj" fmla="val 3594"/>
            </a:avLst>
          </a:prstGeom>
          <a:solidFill>
            <a:srgbClr val="2A3644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9714586" y="2194560"/>
            <a:ext cx="18159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89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+10%</a:t>
            </a:r>
            <a:endParaRPr lang="en-US" sz="2700" dirty="0"/>
          </a:p>
        </p:txBody>
      </p:sp>
      <p:sp>
        <p:nvSpPr>
          <p:cNvPr id="24" name="Text 21"/>
          <p:cNvSpPr txBox="1"/>
          <p:nvPr/>
        </p:nvSpPr>
        <p:spPr>
          <a:xfrm>
            <a:off x="9769450" y="3108960"/>
            <a:ext cx="170627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7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de prensado mecánico en colza con pretratamiento por microondas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9714586" y="4617720"/>
            <a:ext cx="1815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FE4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Koubaa et al. 2016 (revisión)</a:t>
            </a:r>
            <a:endParaRPr lang="en-US" sz="85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53492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7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estudios a escala de laboratorio/piloto en girasol, canola, colza y soja — dirección consistente en todos los casos. Aún no existe una cifra publicada a escala de planta industrial para esta configuración específica.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3" name="Image 0" descr="ic_ro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364" y="627644"/>
            <a:ext cx="317480" cy="317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9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749808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Hoja de ruta propuesta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2567178" cy="3383280"/>
          </a:xfrm>
          <a:prstGeom prst="roundRect">
            <a:avLst>
              <a:gd name="adj" fmla="val 2850"/>
            </a:avLst>
          </a:prstGeom>
          <a:solidFill>
            <a:srgbClr val="F0F2F5"/>
          </a:solidFill>
          <a:ln/>
        </p:spPr>
      </p:sp>
      <p:sp>
        <p:nvSpPr>
          <p:cNvPr id="7" name="Shape 4"/>
          <p:cNvSpPr/>
          <p:nvPr/>
        </p:nvSpPr>
        <p:spPr>
          <a:xfrm>
            <a:off x="777240" y="2194560"/>
            <a:ext cx="502920" cy="502920"/>
          </a:xfrm>
          <a:prstGeom prst="ellipse">
            <a:avLst/>
          </a:prstGeom>
          <a:solidFill>
            <a:srgbClr val="1B243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89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880360"/>
            <a:ext cx="21099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pruebas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474720"/>
            <a:ext cx="210997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el efecto sobre la semilla propia de la planta, en laboratorio.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134106" y="3566160"/>
            <a:ext cx="237744" cy="274320"/>
          </a:xfrm>
          <a:prstGeom prst="rightArrow">
            <a:avLst/>
          </a:prstGeom>
          <a:solidFill>
            <a:srgbClr val="D89B2C"/>
          </a:solidFill>
          <a:ln/>
        </p:spPr>
      </p:sp>
      <p:sp>
        <p:nvSpPr>
          <p:cNvPr id="12" name="Shape 9"/>
          <p:cNvSpPr/>
          <p:nvPr/>
        </p:nvSpPr>
        <p:spPr>
          <a:xfrm>
            <a:off x="3390138" y="1965960"/>
            <a:ext cx="2567178" cy="3383280"/>
          </a:xfrm>
          <a:prstGeom prst="roundRect">
            <a:avLst>
              <a:gd name="adj" fmla="val 2850"/>
            </a:avLst>
          </a:prstGeom>
          <a:solidFill>
            <a:srgbClr val="F0F2F5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8738" y="2194560"/>
            <a:ext cx="502920" cy="502920"/>
          </a:xfrm>
          <a:prstGeom prst="ellipse">
            <a:avLst/>
          </a:prstGeom>
          <a:solidFill>
            <a:srgbClr val="1B243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618738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89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3618738" y="2880360"/>
            <a:ext cx="21099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de sinfín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3618738" y="3474720"/>
            <a:ext cx="210997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con un integrador de microondas industrial, a escala piloto.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975604" y="3566160"/>
            <a:ext cx="237744" cy="274320"/>
          </a:xfrm>
          <a:prstGeom prst="rightArrow">
            <a:avLst/>
          </a:prstGeom>
          <a:solidFill>
            <a:srgbClr val="D89B2C"/>
          </a:solidFill>
          <a:ln/>
        </p:spPr>
      </p:sp>
      <p:sp>
        <p:nvSpPr>
          <p:cNvPr id="18" name="Shape 15"/>
          <p:cNvSpPr/>
          <p:nvPr/>
        </p:nvSpPr>
        <p:spPr>
          <a:xfrm>
            <a:off x="6231636" y="1965960"/>
            <a:ext cx="2567178" cy="3383280"/>
          </a:xfrm>
          <a:prstGeom prst="roundRect">
            <a:avLst>
              <a:gd name="adj" fmla="val 2850"/>
            </a:avLst>
          </a:prstGeom>
          <a:solidFill>
            <a:srgbClr val="F0F2F5"/>
          </a:solidFill>
          <a:ln/>
        </p:spPr>
      </p:sp>
      <p:sp>
        <p:nvSpPr>
          <p:cNvPr id="19" name="Shape 16"/>
          <p:cNvSpPr/>
          <p:nvPr/>
        </p:nvSpPr>
        <p:spPr>
          <a:xfrm>
            <a:off x="6460236" y="2194560"/>
            <a:ext cx="502920" cy="502920"/>
          </a:xfrm>
          <a:prstGeom prst="ellipse">
            <a:avLst/>
          </a:prstGeom>
          <a:solidFill>
            <a:srgbClr val="1B2430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460236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89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6460236" y="2880360"/>
            <a:ext cx="21099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en planta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6460236" y="3474720"/>
            <a:ext cx="210997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rendimiento contra un precalentador convencional de referencia.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817102" y="3566160"/>
            <a:ext cx="237744" cy="274320"/>
          </a:xfrm>
          <a:prstGeom prst="rightArrow">
            <a:avLst/>
          </a:prstGeom>
          <a:solidFill>
            <a:srgbClr val="D89B2C"/>
          </a:solidFill>
          <a:ln/>
        </p:spPr>
      </p:sp>
      <p:sp>
        <p:nvSpPr>
          <p:cNvPr id="24" name="Shape 21"/>
          <p:cNvSpPr/>
          <p:nvPr/>
        </p:nvSpPr>
        <p:spPr>
          <a:xfrm>
            <a:off x="9073134" y="1965960"/>
            <a:ext cx="2567178" cy="3383280"/>
          </a:xfrm>
          <a:prstGeom prst="roundRect">
            <a:avLst>
              <a:gd name="adj" fmla="val 2850"/>
            </a:avLst>
          </a:prstGeom>
          <a:solidFill>
            <a:srgbClr val="F0F2F5"/>
          </a:solidFill>
          <a:ln/>
        </p:spPr>
      </p:sp>
      <p:sp>
        <p:nvSpPr>
          <p:cNvPr id="25" name="Shape 22"/>
          <p:cNvSpPr/>
          <p:nvPr/>
        </p:nvSpPr>
        <p:spPr>
          <a:xfrm>
            <a:off x="9301734" y="2194560"/>
            <a:ext cx="502920" cy="502920"/>
          </a:xfrm>
          <a:prstGeom prst="ellipse">
            <a:avLst/>
          </a:prstGeom>
          <a:solidFill>
            <a:srgbClr val="1B2430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9301734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89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9301734" y="2880360"/>
            <a:ext cx="21099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al control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9301734" y="3474720"/>
            <a:ext cx="210997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Sensado distribuido + lazo PID, alineado al plan de automatización de molino y extrusor.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82996" y="1463040"/>
            <a:ext cx="822960" cy="822960"/>
          </a:xfrm>
          <a:prstGeom prst="ellipse">
            <a:avLst/>
          </a:prstGeom>
          <a:solidFill>
            <a:srgbClr val="2A3644"/>
          </a:solidFill>
          <a:ln/>
        </p:spPr>
      </p:sp>
      <p:pic>
        <p:nvPicPr>
          <p:cNvPr id="3" name="Image 0" descr="ic_at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8162" y="1648206"/>
            <a:ext cx="452628" cy="45262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26517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1463040" y="3520440"/>
            <a:ext cx="9262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FE4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Precalentamiento por microondas — una vía de innovación para el revamping de la planta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512064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Jorge Churio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544068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7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jorge.f.churio@gmail.com  |  Proyecto Valeriano Sunflower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Proyecto Valeriano Sunflower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Ing. Jorge Churio</dc:creator>
  <cp:lastModifiedBy>Ing. Jorge Churio</cp:lastModifiedBy>
  <cp:revision>1</cp:revision>
  <dcterms:created xsi:type="dcterms:W3CDTF">2026-09-16T11:15:27Z</dcterms:created>
  <dcterms:modified xsi:type="dcterms:W3CDTF">2026-09-16T11:15:27Z</dcterms:modified>
</cp:coreProperties>
</file>